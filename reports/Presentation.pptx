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Bluestock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F6F9"/>
                </a:solidFill>
              </a:rPr>
              <a:t>Mutual Fund Analytics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606040"/>
            <a:ext cx="67025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6F9"/>
                </a:solidFill>
              </a:rPr>
              <a:t>Final Capstone Project  |  Deliverables D1 – D7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06B"/>
                </a:solidFill>
              </a:rPr>
              <a:t>28 June 2026  |  Bluestock Fintech Private Limited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40680"/>
            <a:ext cx="2377440" cy="10058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INR 62.74L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Platform AUM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81528" y="5440680"/>
            <a:ext cx="2377440" cy="10058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46,000+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59618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NAV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5856" y="5440680"/>
            <a:ext cx="2377440" cy="10058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32,778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59618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0183" y="5440680"/>
            <a:ext cx="2377440" cy="10058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D1 – D7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59618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Deliverables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Why does this platform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</a:rPr>
              <a:t>India's mutual fund industry manages INR 50+ Lakh Crore, yet retail investors lack professional-grade tools for risk analysis, portfolio diversification, and personalised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0D1B2A"/>
                </a:solidFill>
              </a:rPr>
              <a:t>• Fragmented data across CSVs — no single source of truth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D1B2A"/>
                </a:solidFill>
              </a:rPr>
              <a:t>• No risk-adjusted metrics (Sharpe, VaR, Drawdown) for retail investors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D1B2A"/>
                </a:solidFill>
              </a:rPr>
              <a:t>• Absence of personalised fund recommendation tools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D1B2A"/>
                </a:solidFill>
              </a:rPr>
              <a:t>• No interactive dashboard for exploration and comparison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D1B2A"/>
                </a:solidFill>
              </a:rPr>
              <a:t>• Missing portfolio correlation and diversification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828800"/>
            <a:ext cx="4297680" cy="4480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23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End-to-end ETL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718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Relational SQLite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520439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+ 7 EDA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069079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Risk analytics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6177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Interactive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166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Recommender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10 curated AMFI-sourced CSV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01 Fund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41 schemes, categories, risk grades, fund managers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630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02 NAV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9202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46,000+ daily NAV records, 2022–2025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03 AUM by 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90 monthly AUM records by fund 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04 SIP Inflows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48 months of industry-wide SIP trends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0632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05 Category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5204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144 net inflow records by 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632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07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204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41 schemes with Sharpe, Beta, Alpha, Drawdown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0915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08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32,778 investor transaction records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46634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470915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09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51206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322 stock holdings with sector weights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663440"/>
            <a:ext cx="3749039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70915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10 Benchmarks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1206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8,050 index closing prices (Nifty 50, 100, etc.)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ETL Pipeline (D1)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Extract → Transform →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03320" cy="4754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1B2A"/>
                </a:solidFill>
              </a:rPr>
              <a:t>data_ingestion.py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560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Reads 10 raw CSVs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832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Validates AMFI code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20624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Fetches live NAV from mfapi.in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703320" cy="4754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1B2A"/>
                </a:solidFill>
              </a:rPr>
              <a:t>data_cleaning.py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46888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560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Forward-fills missing NAV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3832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Standardises date formats to ISO 8601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20624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Normalises portfolio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463040"/>
            <a:ext cx="3703320" cy="47548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1B2A"/>
                </a:solidFill>
              </a:rPr>
              <a:t>database_loading.py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46888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560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Creates 11 SQLite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3832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Validates foreign key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0624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Zero violations 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23774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3093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46,002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784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Records Loaded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6263640"/>
            <a:ext cx="23774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63093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6784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DB Tables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05856" y="6263640"/>
            <a:ext cx="23774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7296" y="63093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7296" y="6784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FK Violations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0183" y="6263640"/>
            <a:ext cx="23774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624" y="63093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6784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Completeness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 (D2)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SQLite Star Schema – 11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CA8"/>
                </a:solidFill>
              </a:rPr>
              <a:t>DIMENSION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2651760" cy="7315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dim_fund
40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2651760" cy="7315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dim_date
1,297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FACT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632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fact_nav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93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46,000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90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40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12079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5779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8756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32,778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01752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30632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3493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322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11480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4160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fact_aum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4590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90 rows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5212079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525779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fact_benchmarks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568756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8,050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01752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fact_sip_industry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93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48 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11480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160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fact_cat_inflows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590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144 rows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5212079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525779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fact_folios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68756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21 rows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Exploratory Data Analysis (D3)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7 premium charts revealing key market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2468880"/>
          </a:xfrm>
          <a:prstGeom prst="rect">
            <a:avLst/>
          </a:prstGeom>
        </p:spPr>
      </p:pic>
      <p:pic>
        <p:nvPicPr>
          <p:cNvPr id="8" name="Picture 7" descr="04_risk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76072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931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6B"/>
                </a:solidFill>
              </a:rPr>
              <a:t>NAV Trends: Equity vs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6B"/>
                </a:solidFill>
              </a:rPr>
              <a:t>Risk vs Return Scatter (3-Year)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43484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0D1B2A"/>
                </a:solidFill>
              </a:rPr>
              <a:t>• Equity Large-Cap: 12–15% CAGR | Volatility 13–19%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D1B2A"/>
                </a:solidFill>
              </a:rPr>
              <a:t>• SIP accounts grew 91% in 3 years (4.9 Cr → 9.35 Cr)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D1B2A"/>
                </a:solidFill>
              </a:rPr>
              <a:t>• Financial Services &amp; IT dominate sector allocation (30-48%)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D1B2A"/>
                </a:solidFill>
              </a:rPr>
              <a:t>• Liquid/Gilt funds: &lt; 5% volatility, 5–8% 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Analytics (D4)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Institutional-grade risk-adjusted metrics for 40 schemes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Annualised NAV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Small Cap: 21-24% | Large Cap: 12-15%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566928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906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Excess return / total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01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Best: HDFC Top 100 &amp; Mirae (1.06)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66928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77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Sortino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25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Excess return /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36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Gilt funds excel (2.1-2.8)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66360"/>
            <a:ext cx="566928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59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Market 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70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Liquid funds: 0.1-0.5 | Equity: 0.8-1.1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66928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1856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Skill above CAPM expectation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Best: HDFC Short Term (1.98%)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97480"/>
            <a:ext cx="566928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VaR (95%)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0906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Max 1-day loss at 95% conf.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401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Small Cap: ~2% | Liquid: &lt; 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566928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977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Max Drawdown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325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Largest historical decline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636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Small Cap: -13 to -33% | Gilt: &lt; -3%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Interactive Dashboard (D5)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Multi-page Streamlit app with live filtering and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76072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3886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06B"/>
                </a:solidFill>
              </a:rPr>
              <a:t>Executive Overview &amp; KPIs</a:t>
            </a:r>
          </a:p>
        </p:txBody>
      </p:sp>
      <p:pic>
        <p:nvPicPr>
          <p:cNvPr id="9" name="Picture 8" descr="2_performance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76072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886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06B"/>
                </a:solidFill>
              </a:rPr>
              <a:t>Performance Analytics</a:t>
            </a:r>
          </a:p>
        </p:txBody>
      </p:sp>
      <p:pic>
        <p:nvPicPr>
          <p:cNvPr id="11" name="Picture 10" descr="3_portfolio_allo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114800"/>
            <a:ext cx="576072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" y="6629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06B"/>
                </a:solidFill>
              </a:rPr>
              <a:t>Portfolio Allocation</a:t>
            </a:r>
          </a:p>
        </p:txBody>
      </p:sp>
      <p:pic>
        <p:nvPicPr>
          <p:cNvPr id="13" name="Picture 12" descr="4_risk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114800"/>
            <a:ext cx="57607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6629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06B"/>
                </a:solidFill>
              </a:rPr>
              <a:t>Risk Analytics (Bollinger)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 Engine (D6)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Rule-based fund matching by risk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606040" cy="12801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
Risk + Horizon +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463040"/>
            <a:ext cx="2606040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FILTER
Risk grade &amp; horizon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63040"/>
            <a:ext cx="2606040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SCORE
Weighted composite 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463040"/>
            <a:ext cx="2606040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RANK &amp; EXPLAIN
Top-N with NL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Scoring Weights by Risk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137160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456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3383280"/>
            <a:ext cx="137160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456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Conservative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383280"/>
            <a:ext cx="137160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79" y="3456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383280"/>
            <a:ext cx="137160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456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Aggressive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7764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5079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Sharpe Ratio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397764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05079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40%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97764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405079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397764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05079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7200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6451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3-Year CAGR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457200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46451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57200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79" y="46451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457200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45%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6636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2395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Volatility (inv.)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640" y="516636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52395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516636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79" y="52395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15%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5166360"/>
            <a:ext cx="1371600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2395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10%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76072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83387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Max Drawdown (inv.)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640" y="576072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7360" y="583387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15%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576072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54679" y="583387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576072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583387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25%</a:t>
            </a:r>
          </a:p>
        </p:txBody>
      </p:sp>
      <p:pic>
        <p:nvPicPr>
          <p:cNvPr id="59" name="Picture 58" descr="chart_08_recommender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0"/>
            <a:ext cx="5669280" cy="3657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217920" y="6446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B"/>
                </a:solidFill>
              </a:rPr>
              <a:t>27 recommendations generated across 5 investor profiles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10 data-driven observations from the analytics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5806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Small Cap Risk-Return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9656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Highest CAGR (21-24%) but ~25% volatility — 7+ year horizon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41448"/>
            <a:ext cx="5806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780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Direct vs Regular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43784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Direct outperforms by 60-120 bps p.a. — compounding amplifies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465576"/>
            <a:ext cx="5806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5021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Large Cap / Index 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67912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rho &gt; 0.9 — holding both provides minimal diversification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489704"/>
            <a:ext cx="5806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5262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Gilt as Hedge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892040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Near-zero to negative correlation with equity during stress periods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513832"/>
            <a:ext cx="5806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55040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Fat Tails in 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916168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Hist. VaR &gt; Parametric VaR — Gaussian models understate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5806440" cy="960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4538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AMC Concentration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1819656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SBI + ICICI + HDFC control 52%+ of platform AUM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441448"/>
            <a:ext cx="5806440" cy="960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4780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SIP Momentum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843784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Active SIP accounts grew 91% in 3 years (4.9 Cr → 9.35 Cr)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65576"/>
            <a:ext cx="5806440" cy="960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35021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Flexi-Cap Optimal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67912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Best risk-adjusted anchor holding for moderate investors (Sharpe &gt;0.9)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489704"/>
            <a:ext cx="5806440" cy="960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45262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Sector Concentration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892040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Banking/IT: 30-48% weight creates hidden correlated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513832"/>
            <a:ext cx="5806440" cy="960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55040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Liquid Fund Reality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916168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Post-tax returns barely beat savings accounts — cash-parking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Engineering challenges encountered and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9047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Missing NAV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Weekends/holidays created gaps in daily NAV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pandas ffill() grouped by scheme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9047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SQLite Thread Concurrency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Streamlit multi-threading caused DB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@st.cache_resource + check_same_thread=False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10896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18211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Weight Anomalies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Portfolio weights summed &gt; 100% or were negative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1330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Normalisation &amp; outlier-dropping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0896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18211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VaR Assumption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Equity returns violate Gaussian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1330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Compute both methods; document fat-tail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80060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487375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nbformat Cell 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Jupyter 5.1+ requires unique IDs per 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58247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UUID-based IDs added to all notebook cells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00600"/>
            <a:ext cx="576072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4873752"/>
            <a:ext cx="5120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Correlation Alignment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9"/>
                </a:solidFill>
              </a:rPr>
              <a:t>NAV pivots had different date ranges per fund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58247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Solution: dropna() on returns pivot for common ranges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Enhancements planned for production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576072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AI/ML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9280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LSTM/ARIMA models with macroeconomic indicators (inflation, RBI repo 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651760"/>
            <a:ext cx="576072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User Portfolios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2724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Authentication + virtual watchlists + rebalancing alerts via SMS/email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576072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9319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Live 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6168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NSE/BSE WebSocket feeds for real-time NAV and portfolio re-valuation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5120640"/>
            <a:ext cx="5760720" cy="1143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1663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Portfolio Overlap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59612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Alert when two selected funds share &gt; 75% sector 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576072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63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9280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 Native/Flutter mobile app with push 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651760"/>
            <a:ext cx="576072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697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ESG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2724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Environmental, Social, Governance ratings alongside financial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886200"/>
            <a:ext cx="576072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9319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Multi-Asset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6168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Bonds, ETFs, REITs, and international funds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5120640"/>
            <a:ext cx="576072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1663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+ Automated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9612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Cron-scheduled monthly PDF reports emailed to registered 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F6F9"/>
                </a:solidFill>
              </a:rPr>
              <a:t>Bluestock Mutual Fund Analytics Platform  |  Capstone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4F6F9"/>
                </a:solidFill>
              </a:rPr>
              <a:t>Slide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188720"/>
            <a:ext cx="67025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F6F9"/>
                </a:solidFill>
              </a:rPr>
              <a:t>The Bluestock Mutual Fund Analytics Platform delivers a complete, production-ready data engineering and financial analytics solution — from raw CSV ingestion to institutional-grade risk metrics, interactive visualisation, and personalised investment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2148840" cy="13716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D1–D2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ETL + Star-Schema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651760"/>
            <a:ext cx="2148840" cy="13716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6974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D3–D4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EDA + Performance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651760"/>
            <a:ext cx="2148840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Interactive Streamlit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651760"/>
            <a:ext cx="214884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6974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VaR + Cohort + Recommender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651760"/>
            <a:ext cx="2148840" cy="13716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6974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Final Report &amp;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All 7 deliverables completed, validated, and documented.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8463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23620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9"/>
                </a:solidFill>
              </a:rPr>
              <a:t>Bluestock Fintech Private Limited  |  github.com/eashita2409/bluestock-internship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